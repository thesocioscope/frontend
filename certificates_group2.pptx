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1A"/>
                </a:solidFill>
                <a:latin typeface="Calibri"/>
              </a:rPr>
              <a:t>UBUNTU KREATIVE VILLAGE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https://thesocioscope.github.io/frontend/projects/ubuntu-kreative-village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1A"/>
                </a:solidFill>
                <a:latin typeface="Calibri"/>
              </a:rPr>
              <a:t>KHULISA FOOD AND NUTRITION NPO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https://thesocioscope.github.io/frontend/projects/khulisa-food-and-nutrition-npo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ZITOUNA LIFE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https://thesocioscope.github.io/frontend/projects/zitouna-life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DRIVE INN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https://thesocioscope.github.io/frontend/projects/drive-inn-group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1A"/>
                </a:solidFill>
                <a:latin typeface="Calibri"/>
              </a:rPr>
              <a:t>URUHIMBI KAGEYO COOPERATIVE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https://thesocioscope.github.io/frontend/projects/uruhimbi-kageyo-cooperative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NO FOOD WASTE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https://thesocioscope.github.io/frontend/projects/no-food-waste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SEASHORE GARDEN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https://thesocioscope.github.io/frontend/projects/seashore-garden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1A"/>
                </a:solidFill>
                <a:latin typeface="Calibri"/>
              </a:rPr>
              <a:t>YAU TAM MEI HOLIDAY CAMP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https://thesocioscope.github.io/frontend/projects/yau-tam-mei-holiday-camp-limited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MBOJA’O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https://thesocioscope.github.io/frontend/projects/mboja-o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COLLECTIF RÉCOLTE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https://thesocioscope.github.io/frontend/projects/collectif-recolte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MAD AGRICULTURE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https://thesocioscope.github.io/frontend/projects/mad-agriculture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LOOP:FROME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https://thesocioscope.github.io/frontend/projects/loop-frome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LA RUCHE QUI DIT OUI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https://thesocioscope.github.io/frontend/projects/la-ruche-qui-dit-oui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PESCARTES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https://thesocioscope.github.io/frontend/projects/pescartes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BOWLINE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https://thesocioscope.github.io/frontend/projects/bowline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EATERNITY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https://thesocioscope.github.io/frontend/projects/eaternity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EKO SPICHLERZ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https://thesocioscope.github.io/frontend/projects/eko-spichlerz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PARKI AR MINDA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https://thesocioscope.github.io/frontend/projects/parki-ar-minda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DE LA CHINAMPA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https://thesocioscope.github.io/frontend/projects/de-la-chinampa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COOPETARRAZÚ 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https://thesocioscope.github.io/frontend/projects/coopetarrazu-rl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1A"/>
                </a:solidFill>
                <a:latin typeface="Calibri"/>
              </a:rPr>
              <a:t>RED DE GUARDIANES DE SEMILLAS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https://thesocioscope.github.io/frontend/projects/red-de-guardianes-de-semillas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CIRKULA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https://thesocioscope.github.io/frontend/projects/cirkula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COLONIA JAIME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https://thesocioscope.github.io/frontend/projects/colonia-jaime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AGROSAVIA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https://thesocioscope.github.io/frontend/projects/corporacion-colombiana-de-investigacion-agropecuaria-agrosavia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20440" cy="2148840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flipH="1">
            <a:off x="2560320" y="0"/>
            <a:ext cx="960120" cy="214884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F  O  O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0536" y="0"/>
            <a:ext cx="1828800" cy="292608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77493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 i="0" spc="250">
                <a:solidFill>
                  <a:srgbClr val="1A5C1A"/>
                </a:solidFill>
                <a:latin typeface="Calibri"/>
              </a:rPr>
              <a:t>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Proudly presented to 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27248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72968"/>
            <a:ext cx="9774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C1A"/>
                </a:solidFill>
                <a:latin typeface="Calibri"/>
              </a:rPr>
              <a:t>TE KAKANO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79392"/>
            <a:ext cx="9774936" cy="13716"/>
          </a:xfrm>
          <a:prstGeom prst="rect">
            <a:avLst/>
          </a:prstGeom>
          <a:solidFill>
            <a:srgbClr val="56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07408"/>
            <a:ext cx="9043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Chosen for your exceptional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innovation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impact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 advancing sustainable food systems, we express our gratitude for embodying The Food Socioscope's values and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inspiring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global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33333"/>
                </a:solidFill>
                <a:latin typeface="Calibri"/>
              </a:rPr>
              <a:t>SAADI LAHLOU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Professor and Director</a:t>
            </a:r>
          </a:p>
          <a:p>
            <a:r>
              <a:rPr sz="1000" b="0" i="1">
                <a:solidFill>
                  <a:srgbClr val="333333"/>
                </a:solidFill>
                <a:latin typeface="Calibri"/>
              </a:rPr>
              <a:t>Paris Institute for Advanced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80644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Calibri"/>
              </a:rPr>
              <a:t>HELGA NOWOTNY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Professor and Chair of the Science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Strategic Advisory Board</a:t>
            </a:r>
          </a:p>
          <a:p>
            <a:pPr algn="r"/>
            <a:r>
              <a:rPr sz="1000" b="0" i="1">
                <a:solidFill>
                  <a:srgbClr val="333333"/>
                </a:solidFill>
                <a:latin typeface="Calibri"/>
              </a:rPr>
              <a:t>Complexity Science Hub Vienna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66294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IEA PARIS          Complexity Science Hub          NOMIS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242048"/>
            <a:ext cx="9774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https://thesocioscope.github.io/frontend/projects/te-kakano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